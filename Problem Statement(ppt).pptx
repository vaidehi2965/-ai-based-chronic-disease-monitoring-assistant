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0"/>
  </p:notesMasterIdLst>
  <p:sldIdLst>
    <p:sldId id="283" r:id="rId2"/>
    <p:sldId id="257" r:id="rId3"/>
    <p:sldId id="282" r:id="rId4"/>
    <p:sldId id="259" r:id="rId5"/>
    <p:sldId id="287" r:id="rId6"/>
    <p:sldId id="288" r:id="rId7"/>
    <p:sldId id="278" r:id="rId8"/>
    <p:sldId id="273" r:id="rId9"/>
    <p:sldId id="262" r:id="rId10"/>
    <p:sldId id="281" r:id="rId11"/>
    <p:sldId id="279" r:id="rId12"/>
    <p:sldId id="284" r:id="rId13"/>
    <p:sldId id="285" r:id="rId14"/>
    <p:sldId id="286" r:id="rId15"/>
    <p:sldId id="280" r:id="rId16"/>
    <p:sldId id="277" r:id="rId17"/>
    <p:sldId id="289" r:id="rId18"/>
    <p:sldId id="276" r:id="rId1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7" roundtripDataSignature="AMtx7mjt3491jQ7aCoyIz2WXeHKroE7t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893B863-683A-4AB2-82D8-6482D1181385}" v="32" dt="2026-02-01T11:44:27.671"/>
  </p1510:revLst>
</p1510:revInfo>
</file>

<file path=ppt/tableStyles.xml><?xml version="1.0" encoding="utf-8"?>
<a:tblStyleLst xmlns:a="http://schemas.openxmlformats.org/drawingml/2006/main" def="{0AAD8F4D-43EB-41E5-8A38-28AB6DFB1B60}">
  <a:tblStyle styleId="{0AAD8F4D-43EB-41E5-8A38-28AB6DFB1B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86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adhana gowda" userId="c36140d38316ca30" providerId="LiveId" clId="{4D479D24-AC23-42B9-90E2-9B0CE6724473}"/>
    <pc:docChg chg="undo custSel modSld">
      <pc:chgData name="aradhana gowda" userId="c36140d38316ca30" providerId="LiveId" clId="{4D479D24-AC23-42B9-90E2-9B0CE6724473}" dt="2026-02-01T11:58:13.042" v="460" actId="20577"/>
      <pc:docMkLst>
        <pc:docMk/>
      </pc:docMkLst>
      <pc:sldChg chg="addSp delSp modSp mod">
        <pc:chgData name="aradhana gowda" userId="c36140d38316ca30" providerId="LiveId" clId="{4D479D24-AC23-42B9-90E2-9B0CE6724473}" dt="2026-02-01T11:58:13.042" v="460" actId="20577"/>
        <pc:sldMkLst>
          <pc:docMk/>
          <pc:sldMk cId="0" sldId="257"/>
        </pc:sldMkLst>
        <pc:graphicFrameChg chg="modGraphic">
          <ac:chgData name="aradhana gowda" userId="c36140d38316ca30" providerId="LiveId" clId="{4D479D24-AC23-42B9-90E2-9B0CE6724473}" dt="2026-02-01T11:58:13.042" v="460" actId="20577"/>
          <ac:graphicFrameMkLst>
            <pc:docMk/>
            <pc:sldMk cId="0" sldId="257"/>
            <ac:graphicFrameMk id="96" creationId="{00000000-0000-0000-0000-000000000000}"/>
          </ac:graphicFrameMkLst>
        </pc:graphicFrameChg>
        <pc:picChg chg="del">
          <ac:chgData name="aradhana gowda" userId="c36140d38316ca30" providerId="LiveId" clId="{4D479D24-AC23-42B9-90E2-9B0CE6724473}" dt="2026-02-01T11:44:57.643" v="372" actId="478"/>
          <ac:picMkLst>
            <pc:docMk/>
            <pc:sldMk cId="0" sldId="257"/>
            <ac:picMk id="2" creationId="{330C9D4A-B972-85E9-7C58-A77163220759}"/>
          </ac:picMkLst>
        </pc:picChg>
        <pc:picChg chg="add mod">
          <ac:chgData name="aradhana gowda" userId="c36140d38316ca30" providerId="LiveId" clId="{4D479D24-AC23-42B9-90E2-9B0CE6724473}" dt="2026-02-01T11:45:50.885" v="379" actId="1076"/>
          <ac:picMkLst>
            <pc:docMk/>
            <pc:sldMk cId="0" sldId="257"/>
            <ac:picMk id="5" creationId="{B8A5BC7A-AE72-4F04-841D-A9C6BF6BECB5}"/>
          </ac:picMkLst>
        </pc:picChg>
      </pc:sldChg>
      <pc:sldChg chg="modSp mod">
        <pc:chgData name="aradhana gowda" userId="c36140d38316ca30" providerId="LiveId" clId="{4D479D24-AC23-42B9-90E2-9B0CE6724473}" dt="2026-02-01T07:21:36.857" v="182" actId="20577"/>
        <pc:sldMkLst>
          <pc:docMk/>
          <pc:sldMk cId="0" sldId="259"/>
        </pc:sldMkLst>
        <pc:spChg chg="mod">
          <ac:chgData name="aradhana gowda" userId="c36140d38316ca30" providerId="LiveId" clId="{4D479D24-AC23-42B9-90E2-9B0CE6724473}" dt="2026-02-01T07:21:36.857" v="182" actId="20577"/>
          <ac:spMkLst>
            <pc:docMk/>
            <pc:sldMk cId="0" sldId="259"/>
            <ac:spMk id="2" creationId="{8244C99C-C879-4B03-F7F7-7306F7D33083}"/>
          </ac:spMkLst>
        </pc:spChg>
      </pc:sldChg>
      <pc:sldChg chg="addSp delSp modSp mod">
        <pc:chgData name="aradhana gowda" userId="c36140d38316ca30" providerId="LiveId" clId="{4D479D24-AC23-42B9-90E2-9B0CE6724473}" dt="2026-02-01T11:43:42.060" v="362" actId="20577"/>
        <pc:sldMkLst>
          <pc:docMk/>
          <pc:sldMk cId="0" sldId="273"/>
        </pc:sldMkLst>
        <pc:spChg chg="add">
          <ac:chgData name="aradhana gowda" userId="c36140d38316ca30" providerId="LiveId" clId="{4D479D24-AC23-42B9-90E2-9B0CE6724473}" dt="2026-02-01T11:36:08.286" v="269"/>
          <ac:spMkLst>
            <pc:docMk/>
            <pc:sldMk cId="0" sldId="273"/>
            <ac:spMk id="2" creationId="{EB46E7D0-827E-9461-0F24-C5B47B0328D4}"/>
          </ac:spMkLst>
        </pc:spChg>
        <pc:spChg chg="add">
          <ac:chgData name="aradhana gowda" userId="c36140d38316ca30" providerId="LiveId" clId="{4D479D24-AC23-42B9-90E2-9B0CE6724473}" dt="2026-02-01T11:36:08.286" v="269"/>
          <ac:spMkLst>
            <pc:docMk/>
            <pc:sldMk cId="0" sldId="273"/>
            <ac:spMk id="4" creationId="{EAD87E3B-6C90-2182-7AAA-519C359CCDF7}"/>
          </ac:spMkLst>
        </pc:spChg>
        <pc:spChg chg="add">
          <ac:chgData name="aradhana gowda" userId="c36140d38316ca30" providerId="LiveId" clId="{4D479D24-AC23-42B9-90E2-9B0CE6724473}" dt="2026-02-01T11:36:08.286" v="269"/>
          <ac:spMkLst>
            <pc:docMk/>
            <pc:sldMk cId="0" sldId="273"/>
            <ac:spMk id="5" creationId="{875C4B0A-1E58-0D8D-F851-B0FC479DF896}"/>
          </ac:spMkLst>
        </pc:spChg>
        <pc:spChg chg="add mod">
          <ac:chgData name="aradhana gowda" userId="c36140d38316ca30" providerId="LiveId" clId="{4D479D24-AC23-42B9-90E2-9B0CE6724473}" dt="2026-02-01T11:37:06.677" v="283"/>
          <ac:spMkLst>
            <pc:docMk/>
            <pc:sldMk cId="0" sldId="273"/>
            <ac:spMk id="6" creationId="{2CE0D03F-FD12-90D5-76B4-2738469D641C}"/>
          </ac:spMkLst>
        </pc:spChg>
        <pc:spChg chg="add mod">
          <ac:chgData name="aradhana gowda" userId="c36140d38316ca30" providerId="LiveId" clId="{4D479D24-AC23-42B9-90E2-9B0CE6724473}" dt="2026-02-01T11:43:42.060" v="362" actId="20577"/>
          <ac:spMkLst>
            <pc:docMk/>
            <pc:sldMk cId="0" sldId="273"/>
            <ac:spMk id="7" creationId="{2D4660FF-C692-724B-060D-755CF987E710}"/>
          </ac:spMkLst>
        </pc:spChg>
        <pc:spChg chg="add del mod">
          <ac:chgData name="aradhana gowda" userId="c36140d38316ca30" providerId="LiveId" clId="{4D479D24-AC23-42B9-90E2-9B0CE6724473}" dt="2026-02-01T11:37:22.170" v="289" actId="478"/>
          <ac:spMkLst>
            <pc:docMk/>
            <pc:sldMk cId="0" sldId="273"/>
            <ac:spMk id="8" creationId="{7DCFFCF4-F1FD-FA94-76E7-246D73727BBF}"/>
          </ac:spMkLst>
        </pc:spChg>
        <pc:spChg chg="add mod">
          <ac:chgData name="aradhana gowda" userId="c36140d38316ca30" providerId="LiveId" clId="{4D479D24-AC23-42B9-90E2-9B0CE6724473}" dt="2026-02-01T11:42:51.955" v="347" actId="14100"/>
          <ac:spMkLst>
            <pc:docMk/>
            <pc:sldMk cId="0" sldId="273"/>
            <ac:spMk id="9" creationId="{C954A5FD-FF76-3919-11EB-C6E25850060B}"/>
          </ac:spMkLst>
        </pc:spChg>
        <pc:spChg chg="add mod">
          <ac:chgData name="aradhana gowda" userId="c36140d38316ca30" providerId="LiveId" clId="{4D479D24-AC23-42B9-90E2-9B0CE6724473}" dt="2026-02-01T11:42:51.955" v="347" actId="14100"/>
          <ac:spMkLst>
            <pc:docMk/>
            <pc:sldMk cId="0" sldId="273"/>
            <ac:spMk id="10" creationId="{C79EAE21-1EE5-57C8-EB23-2195ED783D71}"/>
          </ac:spMkLst>
        </pc:spChg>
        <pc:spChg chg="add mod">
          <ac:chgData name="aradhana gowda" userId="c36140d38316ca30" providerId="LiveId" clId="{4D479D24-AC23-42B9-90E2-9B0CE6724473}" dt="2026-02-01T11:42:51.955" v="347" actId="14100"/>
          <ac:spMkLst>
            <pc:docMk/>
            <pc:sldMk cId="0" sldId="273"/>
            <ac:spMk id="11" creationId="{F4FA5152-8EC2-E547-CEBD-75EBE51805BB}"/>
          </ac:spMkLst>
        </pc:spChg>
        <pc:spChg chg="add mod">
          <ac:chgData name="aradhana gowda" userId="c36140d38316ca30" providerId="LiveId" clId="{4D479D24-AC23-42B9-90E2-9B0CE6724473}" dt="2026-02-01T11:42:51.955" v="347" actId="14100"/>
          <ac:spMkLst>
            <pc:docMk/>
            <pc:sldMk cId="0" sldId="273"/>
            <ac:spMk id="12" creationId="{3604A225-CDE0-2F2A-AC81-07EA01A6B904}"/>
          </ac:spMkLst>
        </pc:spChg>
        <pc:spChg chg="add mod">
          <ac:chgData name="aradhana gowda" userId="c36140d38316ca30" providerId="LiveId" clId="{4D479D24-AC23-42B9-90E2-9B0CE6724473}" dt="2026-02-01T11:42:51.955" v="347" actId="14100"/>
          <ac:spMkLst>
            <pc:docMk/>
            <pc:sldMk cId="0" sldId="273"/>
            <ac:spMk id="13" creationId="{6BDF73A7-FA5B-1D6C-3409-FA97835BA945}"/>
          </ac:spMkLst>
        </pc:spChg>
        <pc:spChg chg="add mod">
          <ac:chgData name="aradhana gowda" userId="c36140d38316ca30" providerId="LiveId" clId="{4D479D24-AC23-42B9-90E2-9B0CE6724473}" dt="2026-02-01T11:42:51.955" v="347" actId="14100"/>
          <ac:spMkLst>
            <pc:docMk/>
            <pc:sldMk cId="0" sldId="273"/>
            <ac:spMk id="14" creationId="{FAC46937-35F7-3FAD-2C03-38A2DFCC7286}"/>
          </ac:spMkLst>
        </pc:spChg>
        <pc:spChg chg="add mod">
          <ac:chgData name="aradhana gowda" userId="c36140d38316ca30" providerId="LiveId" clId="{4D479D24-AC23-42B9-90E2-9B0CE6724473}" dt="2026-02-01T11:42:51.955" v="347" actId="14100"/>
          <ac:spMkLst>
            <pc:docMk/>
            <pc:sldMk cId="0" sldId="273"/>
            <ac:spMk id="15" creationId="{A89AD5EC-8144-B18E-9E15-47131CF55788}"/>
          </ac:spMkLst>
        </pc:spChg>
        <pc:spChg chg="mod">
          <ac:chgData name="aradhana gowda" userId="c36140d38316ca30" providerId="LiveId" clId="{4D479D24-AC23-42B9-90E2-9B0CE6724473}" dt="2026-02-01T11:37:03.698" v="282" actId="14100"/>
          <ac:spMkLst>
            <pc:docMk/>
            <pc:sldMk cId="0" sldId="273"/>
            <ac:spMk id="279" creationId="{00000000-0000-0000-0000-000000000000}"/>
          </ac:spMkLst>
        </pc:spChg>
        <pc:spChg chg="mod">
          <ac:chgData name="aradhana gowda" userId="c36140d38316ca30" providerId="LiveId" clId="{4D479D24-AC23-42B9-90E2-9B0CE6724473}" dt="2026-02-01T11:37:28.139" v="290" actId="20577"/>
          <ac:spMkLst>
            <pc:docMk/>
            <pc:sldMk cId="0" sldId="273"/>
            <ac:spMk id="280" creationId="{00000000-0000-0000-0000-000000000000}"/>
          </ac:spMkLst>
        </pc:spChg>
        <pc:spChg chg="mod">
          <ac:chgData name="aradhana gowda" userId="c36140d38316ca30" providerId="LiveId" clId="{4D479D24-AC23-42B9-90E2-9B0CE6724473}" dt="2026-02-01T11:37:18.528" v="287" actId="20577"/>
          <ac:spMkLst>
            <pc:docMk/>
            <pc:sldMk cId="0" sldId="273"/>
            <ac:spMk id="281" creationId="{00000000-0000-0000-0000-000000000000}"/>
          </ac:spMkLst>
        </pc:spChg>
      </pc:sldChg>
      <pc:sldChg chg="modSp mod">
        <pc:chgData name="aradhana gowda" userId="c36140d38316ca30" providerId="LiveId" clId="{4D479D24-AC23-42B9-90E2-9B0CE6724473}" dt="2026-02-01T11:40:58.700" v="334" actId="14100"/>
        <pc:sldMkLst>
          <pc:docMk/>
          <pc:sldMk cId="2136706720" sldId="280"/>
        </pc:sldMkLst>
        <pc:spChg chg="mod">
          <ac:chgData name="aradhana gowda" userId="c36140d38316ca30" providerId="LiveId" clId="{4D479D24-AC23-42B9-90E2-9B0CE6724473}" dt="2026-02-01T11:40:58.700" v="334" actId="14100"/>
          <ac:spMkLst>
            <pc:docMk/>
            <pc:sldMk cId="2136706720" sldId="280"/>
            <ac:spMk id="279" creationId="{EAFA16CB-0A72-5AC5-69A0-ABF4A752B43F}"/>
          </ac:spMkLst>
        </pc:spChg>
      </pc:sldChg>
      <pc:sldChg chg="addSp modSp mod">
        <pc:chgData name="aradhana gowda" userId="c36140d38316ca30" providerId="LiveId" clId="{4D479D24-AC23-42B9-90E2-9B0CE6724473}" dt="2026-02-01T11:32:06.130" v="266" actId="20577"/>
        <pc:sldMkLst>
          <pc:docMk/>
          <pc:sldMk cId="2952584201" sldId="282"/>
        </pc:sldMkLst>
        <pc:spChg chg="mod">
          <ac:chgData name="aradhana gowda" userId="c36140d38316ca30" providerId="LiveId" clId="{4D479D24-AC23-42B9-90E2-9B0CE6724473}" dt="2026-02-01T11:32:06.130" v="266" actId="20577"/>
          <ac:spMkLst>
            <pc:docMk/>
            <pc:sldMk cId="2952584201" sldId="282"/>
            <ac:spMk id="2" creationId="{C6F6745E-14BA-0766-CE1E-32E29663832D}"/>
          </ac:spMkLst>
        </pc:spChg>
        <pc:spChg chg="add">
          <ac:chgData name="aradhana gowda" userId="c36140d38316ca30" providerId="LiveId" clId="{4D479D24-AC23-42B9-90E2-9B0CE6724473}" dt="2026-02-01T07:18:28.892" v="135"/>
          <ac:spMkLst>
            <pc:docMk/>
            <pc:sldMk cId="2952584201" sldId="282"/>
            <ac:spMk id="4" creationId="{1EB61F0A-286D-8255-FECD-3AF8250629D7}"/>
          </ac:spMkLst>
        </pc:spChg>
        <pc:spChg chg="add">
          <ac:chgData name="aradhana gowda" userId="c36140d38316ca30" providerId="LiveId" clId="{4D479D24-AC23-42B9-90E2-9B0CE6724473}" dt="2026-02-01T07:18:28.892" v="135"/>
          <ac:spMkLst>
            <pc:docMk/>
            <pc:sldMk cId="2952584201" sldId="282"/>
            <ac:spMk id="6" creationId="{3F32B7AF-9377-B4A0-81F7-1ED646F42E69}"/>
          </ac:spMkLst>
        </pc:spChg>
        <pc:spChg chg="add">
          <ac:chgData name="aradhana gowda" userId="c36140d38316ca30" providerId="LiveId" clId="{4D479D24-AC23-42B9-90E2-9B0CE6724473}" dt="2026-02-01T07:18:28.892" v="135"/>
          <ac:spMkLst>
            <pc:docMk/>
            <pc:sldMk cId="2952584201" sldId="282"/>
            <ac:spMk id="7" creationId="{74322ABC-EE2A-3C24-85BD-0F741D186B32}"/>
          </ac:spMkLst>
        </pc:spChg>
        <pc:spChg chg="add">
          <ac:chgData name="aradhana gowda" userId="c36140d38316ca30" providerId="LiveId" clId="{4D479D24-AC23-42B9-90E2-9B0CE6724473}" dt="2026-02-01T07:18:38.547" v="137"/>
          <ac:spMkLst>
            <pc:docMk/>
            <pc:sldMk cId="2952584201" sldId="282"/>
            <ac:spMk id="8" creationId="{F736AAE3-D0C0-CE6B-4F3B-F74725F67FE7}"/>
          </ac:spMkLst>
        </pc:spChg>
        <pc:spChg chg="add">
          <ac:chgData name="aradhana gowda" userId="c36140d38316ca30" providerId="LiveId" clId="{4D479D24-AC23-42B9-90E2-9B0CE6724473}" dt="2026-02-01T07:18:38.547" v="137"/>
          <ac:spMkLst>
            <pc:docMk/>
            <pc:sldMk cId="2952584201" sldId="282"/>
            <ac:spMk id="9" creationId="{C6D5B214-D112-FABD-2FCE-BBA046382185}"/>
          </ac:spMkLst>
        </pc:spChg>
        <pc:spChg chg="add">
          <ac:chgData name="aradhana gowda" userId="c36140d38316ca30" providerId="LiveId" clId="{4D479D24-AC23-42B9-90E2-9B0CE6724473}" dt="2026-02-01T07:18:38.547" v="137"/>
          <ac:spMkLst>
            <pc:docMk/>
            <pc:sldMk cId="2952584201" sldId="282"/>
            <ac:spMk id="10" creationId="{697CD3C2-A9CF-8EC2-7E64-CD6CA551106F}"/>
          </ac:spMkLst>
        </pc:spChg>
      </pc:sldChg>
      <pc:sldChg chg="modSp mod">
        <pc:chgData name="aradhana gowda" userId="c36140d38316ca30" providerId="LiveId" clId="{4D479D24-AC23-42B9-90E2-9B0CE6724473}" dt="2026-02-01T07:07:44.782" v="2" actId="255"/>
        <pc:sldMkLst>
          <pc:docMk/>
          <pc:sldMk cId="957564641" sldId="283"/>
        </pc:sldMkLst>
        <pc:spChg chg="mod">
          <ac:chgData name="aradhana gowda" userId="c36140d38316ca30" providerId="LiveId" clId="{4D479D24-AC23-42B9-90E2-9B0CE6724473}" dt="2026-02-01T07:07:44.782" v="2" actId="255"/>
          <ac:spMkLst>
            <pc:docMk/>
            <pc:sldMk cId="957564641" sldId="283"/>
            <ac:spMk id="3" creationId="{FFAB85A1-2169-FF43-3E91-E2E8ADA742FF}"/>
          </ac:spMkLst>
        </pc:spChg>
      </pc:sldChg>
      <pc:sldChg chg="modSp mod">
        <pc:chgData name="aradhana gowda" userId="c36140d38316ca30" providerId="LiveId" clId="{4D479D24-AC23-42B9-90E2-9B0CE6724473}" dt="2026-02-01T07:25:34.116" v="228" actId="20577"/>
        <pc:sldMkLst>
          <pc:docMk/>
          <pc:sldMk cId="1034139590" sldId="287"/>
        </pc:sldMkLst>
        <pc:spChg chg="mod">
          <ac:chgData name="aradhana gowda" userId="c36140d38316ca30" providerId="LiveId" clId="{4D479D24-AC23-42B9-90E2-9B0CE6724473}" dt="2026-02-01T07:25:34.116" v="228" actId="20577"/>
          <ac:spMkLst>
            <pc:docMk/>
            <pc:sldMk cId="1034139590" sldId="287"/>
            <ac:spMk id="2" creationId="{D6526727-ECCC-12A7-1A74-4C72030B01EA}"/>
          </ac:spMkLst>
        </pc:spChg>
        <pc:spChg chg="mod">
          <ac:chgData name="aradhana gowda" userId="c36140d38316ca30" providerId="LiveId" clId="{4D479D24-AC23-42B9-90E2-9B0CE6724473}" dt="2026-02-01T07:22:22.781" v="184" actId="1076"/>
          <ac:spMkLst>
            <pc:docMk/>
            <pc:sldMk cId="1034139590" sldId="287"/>
            <ac:spMk id="3" creationId="{0A9D9ED1-DFE2-2CB1-E07B-2D3C44A85C9C}"/>
          </ac:spMkLst>
        </pc:spChg>
      </pc:sldChg>
      <pc:sldChg chg="modSp mod">
        <pc:chgData name="aradhana gowda" userId="c36140d38316ca30" providerId="LiveId" clId="{4D479D24-AC23-42B9-90E2-9B0CE6724473}" dt="2026-02-01T07:27:29.941" v="264" actId="20577"/>
        <pc:sldMkLst>
          <pc:docMk/>
          <pc:sldMk cId="4281176502" sldId="288"/>
        </pc:sldMkLst>
        <pc:spChg chg="mod">
          <ac:chgData name="aradhana gowda" userId="c36140d38316ca30" providerId="LiveId" clId="{4D479D24-AC23-42B9-90E2-9B0CE6724473}" dt="2026-02-01T07:27:29.941" v="264" actId="20577"/>
          <ac:spMkLst>
            <pc:docMk/>
            <pc:sldMk cId="4281176502" sldId="288"/>
            <ac:spMk id="2" creationId="{081273CA-7EF7-F715-EF93-66F231F3ABD1}"/>
          </ac:spMkLst>
        </pc:spChg>
        <pc:spChg chg="mod">
          <ac:chgData name="aradhana gowda" userId="c36140d38316ca30" providerId="LiveId" clId="{4D479D24-AC23-42B9-90E2-9B0CE6724473}" dt="2026-02-01T07:25:29.548" v="226" actId="1076"/>
          <ac:spMkLst>
            <pc:docMk/>
            <pc:sldMk cId="4281176502" sldId="288"/>
            <ac:spMk id="3" creationId="{F987C414-2D49-9E5D-A5D6-CF94524B9BE5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48C2B95B-FB15-C156-6AF1-35B358181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770A13E9-BC77-63DA-E106-A3FA80228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29067B0F-2F4F-7081-A661-0AE31BFBB7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55410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>
          <a:extLst>
            <a:ext uri="{FF2B5EF4-FFF2-40B4-BE49-F238E27FC236}">
              <a16:creationId xmlns:a16="http://schemas.microsoft.com/office/drawing/2014/main" id="{7EF10545-1A46-607A-9459-61E8362FA6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>
            <a:extLst>
              <a:ext uri="{FF2B5EF4-FFF2-40B4-BE49-F238E27FC236}">
                <a16:creationId xmlns:a16="http://schemas.microsoft.com/office/drawing/2014/main" id="{5957A8EB-ADFD-B035-BD54-1E8A3CB366A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4:notes">
            <a:extLst>
              <a:ext uri="{FF2B5EF4-FFF2-40B4-BE49-F238E27FC236}">
                <a16:creationId xmlns:a16="http://schemas.microsoft.com/office/drawing/2014/main" id="{A20716EB-D155-31F5-DA5A-E1CD60F5E9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55386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>
          <a:extLst>
            <a:ext uri="{FF2B5EF4-FFF2-40B4-BE49-F238E27FC236}">
              <a16:creationId xmlns:a16="http://schemas.microsoft.com/office/drawing/2014/main" id="{F166C2B5-4668-A97F-2B37-43C42F2272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>
            <a:extLst>
              <a:ext uri="{FF2B5EF4-FFF2-40B4-BE49-F238E27FC236}">
                <a16:creationId xmlns:a16="http://schemas.microsoft.com/office/drawing/2014/main" id="{1DCE13D3-CED5-0A42-C57E-C51AFD2A62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4:notes">
            <a:extLst>
              <a:ext uri="{FF2B5EF4-FFF2-40B4-BE49-F238E27FC236}">
                <a16:creationId xmlns:a16="http://schemas.microsoft.com/office/drawing/2014/main" id="{A05A17E4-5523-52B1-27CC-3C34856185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44045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11626E4B-E119-2382-6F8F-518641144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01A6FF9F-971F-6CD8-61F5-25638A5985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C8EB5C80-6A4B-AE05-9BE0-03B5AF5C22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27365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>
          <a:extLst>
            <a:ext uri="{FF2B5EF4-FFF2-40B4-BE49-F238E27FC236}">
              <a16:creationId xmlns:a16="http://schemas.microsoft.com/office/drawing/2014/main" id="{59B870D7-ED5B-C7CD-FB99-2991954CA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>
            <a:extLst>
              <a:ext uri="{FF2B5EF4-FFF2-40B4-BE49-F238E27FC236}">
                <a16:creationId xmlns:a16="http://schemas.microsoft.com/office/drawing/2014/main" id="{C8B270BB-F67C-52E3-249C-6FE0C237CA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5:notes">
            <a:extLst>
              <a:ext uri="{FF2B5EF4-FFF2-40B4-BE49-F238E27FC236}">
                <a16:creationId xmlns:a16="http://schemas.microsoft.com/office/drawing/2014/main" id="{151B863E-6240-36E9-EB23-2DAA667D25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98578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79463AA-D7FA-5F7E-C4D0-06BDEDCBB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A84E3171-2C5C-8738-5718-5608CE1B13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E16E406D-2512-5EF2-0167-6C89534695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49666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133DCD37-0C3F-12BB-708C-15A0BFB72A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B3D30803-6188-6E87-DDB6-6562A9E179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EDC8AB23-C1B1-CB09-E0BB-C9AAC48979C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522470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A63A9C66-2952-903D-83F1-D9F7981B25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DC0C7460-0316-B69D-13B6-FF07EC57B30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0173EAB6-F44B-63ED-F869-2979BED7C5D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131364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6D9BD954-16FD-FB57-C6A4-EB5D3F15F6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0F3489E1-7724-611B-4E81-BEA0792A2AD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D0D8B4C3-8B92-E26F-E1AC-2161B8338F1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308055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466C47D1-19F6-52AF-3914-DD3C99058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ACA1F779-4C2B-4CD1-FBDD-A40F0A3223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40004D30-6E86-E263-D5DA-7577B1C759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216939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FB18EFA4-CD13-16C4-504B-6DB7E86CE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E8E16183-6BFA-E60A-1235-F3BFB1B1F6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C4420B06-3455-3F20-5E28-90535F24DA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517532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35F81AA1-D470-94B2-DBAC-B3997B8AE7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BF3C5CFF-BD30-3A5C-BD37-8285A5CF24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D3D9FE95-01C0-4EF5-0973-1DCBDDB3C7B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250960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4" name="Google Shape;64;p3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ogle.com/search?q=cloud.ibm.com%2Flogin&amp;rlz=1C1CHBF_enIN1140IN1141&amp;oq=ibmcloud+reference+link&amp;gs_lcrp=EgZjaHJvbWUyBggAEEUYOTIHCAEQIRiPAjIHCAIQIRiPAtIBCDcxMTZqMGoxqAIAsAIA&amp;sourceid=chrome&amp;ie=UTF-8&amp;ved=2ahUKEwjPt-3X0biSAxXqSmwGHYnnMXIQgK4QegQIAxAH" TargetMode="External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eb.archive.org/web/20160304055519/http:/www-01.ibm.com/common/ssi/cgi-bin/ssialias?infotype=SA&amp;subtype=WH&amp;htmlfid=POW03061USEN" TargetMode="External"/><Relationship Id="rId5" Type="http://schemas.openxmlformats.org/officeDocument/2006/relationships/hyperlink" Target="http://www-01.ibm.com/common/ssi/cgi-bin/ssialias?infotype=SA&amp;subtype=WH&amp;htmlfid=POW03061USEN" TargetMode="External"/><Relationship Id="rId4" Type="http://schemas.openxmlformats.org/officeDocument/2006/relationships/hyperlink" Target="https://www.ibm.com/cloud/infrastructure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97BF8-B3EC-77A2-9BFD-D66830272D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581583"/>
            <a:ext cx="10515600" cy="2852737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Agentic AI Hackathon: Building Intelligent Agents with IBM Granite and LangFlow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AB85A1-2169-FF43-3E91-E2E8ADA742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4730" y="3903663"/>
            <a:ext cx="10515600" cy="1500187"/>
          </a:xfrm>
        </p:spPr>
        <p:txBody>
          <a:bodyPr>
            <a:noAutofit/>
          </a:bodyPr>
          <a:lstStyle/>
          <a:p>
            <a:pPr algn="ctr"/>
            <a:r>
              <a:rPr lang="en-IN" sz="4800" b="1" dirty="0">
                <a:solidFill>
                  <a:schemeClr val="tx1"/>
                </a:solidFill>
              </a:rPr>
              <a:t>AI-Based Chronic Disease Monitoring Assistant</a:t>
            </a:r>
            <a:endParaRPr lang="en-US" sz="4800" b="1" i="1" dirty="0">
              <a:solidFill>
                <a:schemeClr val="tx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270813B-BF9E-B61A-92D0-FA37C99065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75646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690624" y="4425370"/>
            <a:ext cx="10795794" cy="199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endParaRPr sz="15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" name="Google Shape;94;p2"/>
          <p:cNvSpPr txBox="1"/>
          <p:nvPr/>
        </p:nvSpPr>
        <p:spPr>
          <a:xfrm>
            <a:off x="2481943" y="1219200"/>
            <a:ext cx="7301728" cy="271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500"/>
              <a:buFont typeface="Times New Roman"/>
              <a:buNone/>
            </a:pPr>
            <a:r>
              <a:rPr lang="en-US" sz="3500" b="1" i="0" u="none" strike="noStrike" cap="none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Name of the team:  </a:t>
            </a:r>
            <a:r>
              <a:rPr lang="en-US" sz="3500" b="1" dirty="0">
                <a:solidFill>
                  <a:srgbClr val="1F386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MEDORA</a:t>
            </a:r>
            <a:r>
              <a:rPr lang="en-US" sz="3500" b="1" i="0" u="none" strike="noStrike" cap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500" b="1" i="0" u="none" strike="noStrike" cap="none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dirty="0"/>
          </a:p>
        </p:txBody>
      </p:sp>
      <p:sp>
        <p:nvSpPr>
          <p:cNvPr id="95" name="Google Shape;95;p2"/>
          <p:cNvSpPr txBox="1"/>
          <p:nvPr/>
        </p:nvSpPr>
        <p:spPr>
          <a:xfrm>
            <a:off x="2190457" y="1490505"/>
            <a:ext cx="7426406" cy="451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r>
              <a:rPr lang="en-US" sz="3200" b="1" i="0" u="none" strike="noStrike" cap="none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Details of Team members</a:t>
            </a:r>
            <a:endParaRPr sz="3200" b="1" i="0" u="none" strike="noStrike" cap="none" dirty="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96" name="Google Shape;96;p2"/>
          <p:cNvGraphicFramePr/>
          <p:nvPr>
            <p:extLst>
              <p:ext uri="{D42A27DB-BD31-4B8C-83A1-F6EECF244321}">
                <p14:modId xmlns:p14="http://schemas.microsoft.com/office/powerpoint/2010/main" val="469932482"/>
              </p:ext>
            </p:extLst>
          </p:nvPr>
        </p:nvGraphicFramePr>
        <p:xfrm>
          <a:off x="2107510" y="2028035"/>
          <a:ext cx="7592299" cy="4547338"/>
        </p:xfrm>
        <a:graphic>
          <a:graphicData uri="http://schemas.openxmlformats.org/drawingml/2006/table">
            <a:tbl>
              <a:tblPr>
                <a:noFill/>
                <a:tableStyleId>{0AAD8F4D-43EB-41E5-8A38-28AB6DFB1B60}</a:tableStyleId>
              </a:tblPr>
              <a:tblGrid>
                <a:gridCol w="17814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380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304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423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89599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TEAM MEMBER NAME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Recent Passport Photo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Email ID 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u="none" strike="noStrike" cap="non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Phone number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u="none" strike="noStrike" cap="non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[WhatsApp] 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910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/>
                        <a:t>Vaidehi V </a:t>
                      </a:r>
                      <a:r>
                        <a:rPr lang="en-US" sz="1800" dirty="0" err="1"/>
                        <a:t>Arundekar</a:t>
                      </a:r>
                      <a:endParaRPr sz="1800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/>
                        <a:t>arundekarvaidehi@gmail.com</a:t>
                      </a:r>
                      <a:endParaRPr sz="1800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/>
                        <a:t>7619410648</a:t>
                      </a:r>
                      <a:endParaRPr sz="1800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2797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/>
                        <a:t>Vinutha B R</a:t>
                      </a:r>
                      <a:endParaRPr sz="1800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dirty="0"/>
                        <a:t>vinuthabr2020@gmail.com</a:t>
                      </a:r>
                      <a:endParaRPr sz="1800" b="0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/>
                        <a:t>9380996821</a:t>
                      </a:r>
                      <a:endParaRPr sz="1800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13876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/>
                        <a:t>Sneha K S</a:t>
                      </a:r>
                      <a:endParaRPr sz="1800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/>
                        <a:t>aradhanagowda@gmail.com</a:t>
                      </a:r>
                      <a:endParaRPr sz="1800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/>
                        <a:t>6362848382</a:t>
                      </a:r>
                      <a:endParaRPr sz="1800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93071BE8-5070-42BA-3450-6F0039B853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6" y="6271313"/>
            <a:ext cx="11520407" cy="31005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26E2465-CAAB-87B4-8BE5-A9887209CF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45918" y="5278813"/>
            <a:ext cx="1283166" cy="122978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C74AE91-38D4-3FE6-7D23-A133C29FDA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45918" y="4055535"/>
            <a:ext cx="1283166" cy="113813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A07B8AA-940E-3BB9-85CD-11E25750300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45918" y="2934524"/>
            <a:ext cx="1283166" cy="105423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F4C0A7C6-2888-EA53-35AB-4072E6B1F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6F6745E-14BA-0766-CE1E-32E29663832D}"/>
              </a:ext>
            </a:extLst>
          </p:cNvPr>
          <p:cNvSpPr txBox="1"/>
          <p:nvPr/>
        </p:nvSpPr>
        <p:spPr>
          <a:xfrm>
            <a:off x="825376" y="1229360"/>
            <a:ext cx="7616952" cy="4124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Chronic Disease Monitoring Assistant</a:t>
            </a:r>
          </a:p>
          <a:p>
            <a:endParaRPr lang="en-US" b="1" dirty="0"/>
          </a:p>
          <a:p>
            <a:r>
              <a:rPr lang="en-US" b="1" dirty="0"/>
              <a:t>The Challenge</a:t>
            </a:r>
          </a:p>
          <a:p>
            <a:endParaRPr lang="en-US" b="1" dirty="0"/>
          </a:p>
          <a:p>
            <a:r>
              <a:rPr lang="en-US" b="1" dirty="0"/>
              <a:t>Information overload</a:t>
            </a:r>
            <a:r>
              <a:rPr lang="en-US" dirty="0"/>
              <a:t> – Patients with chronic diseases generate large volumes of daily health data from self-monitoring devices and logs, making continuous manual analysis difficult for healthcare providers.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Personalization gaps</a:t>
            </a:r>
            <a:r>
              <a:rPr lang="en-US" dirty="0"/>
              <a:t> – Existing monitoring systems often provide generic insights and recommendations, failing to adapt to individual patient history, condition severity, and lifestyle patterns.</a:t>
            </a:r>
          </a:p>
          <a:p>
            <a:endParaRPr lang="en-US" dirty="0"/>
          </a:p>
          <a:p>
            <a:r>
              <a:rPr lang="en-US" b="1" dirty="0"/>
              <a:t>Unreliable sources</a:t>
            </a:r>
            <a:r>
              <a:rPr lang="en-US" dirty="0"/>
              <a:t> – Patients frequently rely on unverified online health information, leading to confusion, misinformation, and poor self-management decisions</a:t>
            </a:r>
          </a:p>
          <a:p>
            <a:r>
              <a:rPr lang="en-US" dirty="0"/>
              <a:t>.</a:t>
            </a:r>
          </a:p>
          <a:p>
            <a:r>
              <a:rPr lang="en-US" b="1" dirty="0"/>
              <a:t>Dynamic conditions</a:t>
            </a:r>
            <a:r>
              <a:rPr lang="en-US" dirty="0"/>
              <a:t> – Chronic health conditions such as diabetes, hypertension, and asthma involve continuously changing health parameters that require real-time, adaptive monitoring.</a:t>
            </a:r>
          </a:p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57FE32-8AA8-E540-E0AA-C9737C71A0E2}"/>
              </a:ext>
            </a:extLst>
          </p:cNvPr>
          <p:cNvSpPr txBox="1"/>
          <p:nvPr/>
        </p:nvSpPr>
        <p:spPr>
          <a:xfrm>
            <a:off x="805056" y="447690"/>
            <a:ext cx="322683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 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A64CCA-ED49-69BC-3595-2C1CBD5E6D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25842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"/>
          <p:cNvSpPr/>
          <p:nvPr/>
        </p:nvSpPr>
        <p:spPr>
          <a:xfrm>
            <a:off x="324894" y="4502602"/>
            <a:ext cx="2328056" cy="18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244C99C-C879-4B03-F7F7-7306F7D33083}"/>
              </a:ext>
            </a:extLst>
          </p:cNvPr>
          <p:cNvSpPr txBox="1"/>
          <p:nvPr/>
        </p:nvSpPr>
        <p:spPr>
          <a:xfrm>
            <a:off x="792480" y="1558560"/>
            <a:ext cx="10268712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</a:t>
            </a:r>
            <a:r>
              <a:rPr lang="en-US" b="1" dirty="0"/>
              <a:t>AI-Based Chronic Disease Monitoring Assistant</a:t>
            </a:r>
            <a:r>
              <a:rPr lang="en-US" dirty="0"/>
              <a:t> is an </a:t>
            </a:r>
            <a:r>
              <a:rPr lang="en-US" b="1" dirty="0"/>
              <a:t>agent-based, intelligent assistive system</a:t>
            </a:r>
            <a:r>
              <a:rPr lang="en-US" dirty="0"/>
              <a:t> built on </a:t>
            </a:r>
            <a:r>
              <a:rPr lang="en-US" b="1" dirty="0"/>
              <a:t>IBM Cloud</a:t>
            </a:r>
            <a:r>
              <a:rPr lang="en-US" dirty="0"/>
              <a:t> using </a:t>
            </a:r>
            <a:r>
              <a:rPr lang="en-US" b="1" dirty="0"/>
              <a:t>LangFlow and the IBM Granite Model</a:t>
            </a:r>
            <a:r>
              <a:rPr lang="en-US" dirty="0"/>
              <a:t>. The system continuously analyzes patient-generated health data to support </a:t>
            </a:r>
            <a:r>
              <a:rPr lang="en-US" b="1" dirty="0"/>
              <a:t>proactive and personalized chronic disease management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The solution employs </a:t>
            </a:r>
            <a:r>
              <a:rPr lang="en-US" b="1" dirty="0"/>
              <a:t>multiple specialized AI agents</a:t>
            </a:r>
            <a:r>
              <a:rPr lang="en-US" dirty="0"/>
              <a:t>:</a:t>
            </a:r>
          </a:p>
          <a:p>
            <a:endParaRPr lang="en-US" dirty="0"/>
          </a:p>
          <a:p>
            <a:r>
              <a:rPr lang="en-US" b="1" dirty="0"/>
              <a:t>Health Data Analysis Agent</a:t>
            </a:r>
            <a:r>
              <a:rPr lang="en-US" dirty="0"/>
              <a:t> that ingests daily health logs such as blood glucose levels, blood pressure readings, peak flow values, and medication adherence data, organizing them into meaningful short-term and long-term health trends.</a:t>
            </a:r>
          </a:p>
          <a:p>
            <a:endParaRPr lang="en-US" dirty="0"/>
          </a:p>
          <a:p>
            <a:r>
              <a:rPr lang="en-US" b="1" dirty="0"/>
              <a:t>Risk Trend Detection Agent</a:t>
            </a:r>
            <a:r>
              <a:rPr lang="en-US" dirty="0"/>
              <a:t> that evaluates these trends against </a:t>
            </a:r>
            <a:r>
              <a:rPr lang="en-US" b="1" dirty="0"/>
              <a:t>clinical thresholds and historical patient data</a:t>
            </a:r>
            <a:r>
              <a:rPr lang="en-US" dirty="0"/>
              <a:t> to identify abnormal patterns and early signs of potential health deterioration.</a:t>
            </a:r>
          </a:p>
          <a:p>
            <a:endParaRPr lang="en-US" dirty="0"/>
          </a:p>
          <a:p>
            <a:r>
              <a:rPr lang="en-US" b="1" dirty="0"/>
              <a:t>Alert &amp; Lifestyle Recommendation Agent</a:t>
            </a:r>
            <a:r>
              <a:rPr lang="en-US" dirty="0"/>
              <a:t> that generates </a:t>
            </a:r>
            <a:r>
              <a:rPr lang="en-US" b="1" dirty="0"/>
              <a:t>early warning alerts</a:t>
            </a:r>
            <a:r>
              <a:rPr lang="en-US" dirty="0"/>
              <a:t> and provides </a:t>
            </a:r>
            <a:r>
              <a:rPr lang="en-US" b="1" dirty="0"/>
              <a:t>personalized lifestyle and care recommendations</a:t>
            </a:r>
            <a:r>
              <a:rPr lang="en-US" dirty="0"/>
              <a:t> based on trusted clinical guidelines, ensuring the system remains </a:t>
            </a:r>
            <a:r>
              <a:rPr lang="en-US" b="1" dirty="0"/>
              <a:t>assistive and non-diagnostic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Using </a:t>
            </a:r>
            <a:r>
              <a:rPr lang="en-US" b="1" dirty="0"/>
              <a:t>Retrieval-Augmented Generation (RAG)</a:t>
            </a:r>
            <a:r>
              <a:rPr lang="en-US" dirty="0"/>
              <a:t>, the system retrieves knowledge from </a:t>
            </a:r>
            <a:r>
              <a:rPr lang="en-US" b="1" dirty="0"/>
              <a:t>chronic disease management guidelines and trusted healthcare references</a:t>
            </a:r>
            <a:r>
              <a:rPr lang="en-US" dirty="0"/>
              <a:t>, ensuring accurate, explainable, and reliable outputs.</a:t>
            </a:r>
            <a:br>
              <a:rPr lang="en-US" dirty="0"/>
            </a:br>
            <a:r>
              <a:rPr lang="en-US" dirty="0"/>
              <a:t>This intelligent assistant enables </a:t>
            </a:r>
            <a:r>
              <a:rPr lang="en-US" b="1" dirty="0"/>
              <a:t>early risk awareness, timely intervention, and improved long-term health outcomes</a:t>
            </a:r>
            <a:r>
              <a:rPr lang="en-US" dirty="0"/>
              <a:t> for patients with chronic conditions.</a:t>
            </a:r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548320-B634-92CD-C520-43B25557F859}"/>
              </a:ext>
            </a:extLst>
          </p:cNvPr>
          <p:cNvSpPr txBox="1"/>
          <p:nvPr/>
        </p:nvSpPr>
        <p:spPr>
          <a:xfrm>
            <a:off x="893255" y="741143"/>
            <a:ext cx="453919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 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EE1157-422B-2DEC-F7BF-0A06B973C9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>
          <a:extLst>
            <a:ext uri="{FF2B5EF4-FFF2-40B4-BE49-F238E27FC236}">
              <a16:creationId xmlns:a16="http://schemas.microsoft.com/office/drawing/2014/main" id="{A01B5799-6C2E-7FE4-A2C6-734DB0499C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">
            <a:extLst>
              <a:ext uri="{FF2B5EF4-FFF2-40B4-BE49-F238E27FC236}">
                <a16:creationId xmlns:a16="http://schemas.microsoft.com/office/drawing/2014/main" id="{4CB905EF-62C2-FD1F-CE05-FBD2CBBD3921}"/>
              </a:ext>
            </a:extLst>
          </p:cNvPr>
          <p:cNvSpPr/>
          <p:nvPr/>
        </p:nvSpPr>
        <p:spPr>
          <a:xfrm>
            <a:off x="324894" y="4502602"/>
            <a:ext cx="2328056" cy="18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6526727-ECCC-12A7-1A74-4C72030B01EA}"/>
              </a:ext>
            </a:extLst>
          </p:cNvPr>
          <p:cNvSpPr txBox="1"/>
          <p:nvPr/>
        </p:nvSpPr>
        <p:spPr>
          <a:xfrm>
            <a:off x="1005840" y="1584102"/>
            <a:ext cx="10268712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Chronic diseases such as </a:t>
            </a:r>
            <a:r>
              <a:rPr lang="en-US" b="1" dirty="0"/>
              <a:t>diabetes, hypertension, and asthma</a:t>
            </a:r>
            <a:r>
              <a:rPr lang="en-US" dirty="0"/>
              <a:t> require continuous monitoring to prevent complications, but healthcare professionals cannot track patient health data in real time.</a:t>
            </a:r>
          </a:p>
          <a:p>
            <a:endParaRPr lang="en-US" dirty="0"/>
          </a:p>
          <a:p>
            <a:r>
              <a:rPr lang="en-US" dirty="0"/>
              <a:t>The increasing use of self-monitoring devices generates </a:t>
            </a:r>
            <a:r>
              <a:rPr lang="en-US" b="1" dirty="0"/>
              <a:t>large volumes of health data</a:t>
            </a:r>
            <a:r>
              <a:rPr lang="en-US" dirty="0"/>
              <a:t>, which remains underutilized due to lack of intelligent analysis.</a:t>
            </a:r>
          </a:p>
          <a:p>
            <a:endParaRPr lang="en-US" dirty="0"/>
          </a:p>
          <a:p>
            <a:r>
              <a:rPr lang="en-US" dirty="0"/>
              <a:t>Early warning signs of health deterioration are often </a:t>
            </a:r>
            <a:r>
              <a:rPr lang="en-US" b="1" dirty="0"/>
              <a:t>missed</a:t>
            </a:r>
            <a:r>
              <a:rPr lang="en-US" dirty="0"/>
              <a:t>, leading to delayed medical intervention and increased healthcare risks.</a:t>
            </a:r>
          </a:p>
          <a:p>
            <a:endParaRPr lang="en-US" dirty="0"/>
          </a:p>
          <a:p>
            <a:r>
              <a:rPr lang="en-US" dirty="0"/>
              <a:t>Patients lack access to </a:t>
            </a:r>
            <a:r>
              <a:rPr lang="en-US" b="1" dirty="0"/>
              <a:t>reliable, personalized, and clinically aligned guidance</a:t>
            </a:r>
            <a:r>
              <a:rPr lang="en-US" dirty="0"/>
              <a:t> for daily health management.</a:t>
            </a:r>
          </a:p>
          <a:p>
            <a:endParaRPr lang="en-US" dirty="0"/>
          </a:p>
          <a:p>
            <a:r>
              <a:rPr lang="en-US" dirty="0"/>
              <a:t>There is a strong need for an </a:t>
            </a:r>
            <a:r>
              <a:rPr lang="en-US" b="1" dirty="0"/>
              <a:t>AI-based, agent-driven assistive system</a:t>
            </a:r>
            <a:r>
              <a:rPr lang="en-US" dirty="0"/>
              <a:t> that can continuously analyze health data, detect risk trends early, and provide timely alerts and lifestyle recommendations.</a:t>
            </a:r>
          </a:p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A9D9ED1-DFE2-2CB1-E07B-2D3C44A85C9C}"/>
              </a:ext>
            </a:extLst>
          </p:cNvPr>
          <p:cNvSpPr txBox="1"/>
          <p:nvPr/>
        </p:nvSpPr>
        <p:spPr>
          <a:xfrm>
            <a:off x="1005840" y="888770"/>
            <a:ext cx="5496434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of project 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4F3E9D-0527-2FF2-E87C-9369E2B678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41395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>
          <a:extLst>
            <a:ext uri="{FF2B5EF4-FFF2-40B4-BE49-F238E27FC236}">
              <a16:creationId xmlns:a16="http://schemas.microsoft.com/office/drawing/2014/main" id="{1D21EE38-4FEA-9D7F-68F1-831EDFE1F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">
            <a:extLst>
              <a:ext uri="{FF2B5EF4-FFF2-40B4-BE49-F238E27FC236}">
                <a16:creationId xmlns:a16="http://schemas.microsoft.com/office/drawing/2014/main" id="{68C1E71E-9159-FD3B-73D2-CC7380E7CB93}"/>
              </a:ext>
            </a:extLst>
          </p:cNvPr>
          <p:cNvSpPr/>
          <p:nvPr/>
        </p:nvSpPr>
        <p:spPr>
          <a:xfrm>
            <a:off x="324894" y="4502602"/>
            <a:ext cx="2328056" cy="18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81273CA-7EF7-F715-EF93-66F231F3ABD1}"/>
              </a:ext>
            </a:extLst>
          </p:cNvPr>
          <p:cNvSpPr txBox="1"/>
          <p:nvPr/>
        </p:nvSpPr>
        <p:spPr>
          <a:xfrm>
            <a:off x="1005840" y="1584102"/>
            <a:ext cx="10268712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Patients with Chronic Diseases:</a:t>
            </a:r>
            <a:br>
              <a:rPr lang="en-US" dirty="0"/>
            </a:br>
            <a:r>
              <a:rPr lang="en-US" dirty="0"/>
              <a:t>Individuals managing conditions such as diabetes, hypertension, and asthma who require continuous monitoring and timely guidance.</a:t>
            </a:r>
          </a:p>
          <a:p>
            <a:endParaRPr lang="en-US" dirty="0"/>
          </a:p>
          <a:p>
            <a:r>
              <a:rPr lang="en-US" b="1" dirty="0"/>
              <a:t>Healthcare Professionals:</a:t>
            </a:r>
            <a:br>
              <a:rPr lang="en-US" dirty="0"/>
            </a:br>
            <a:r>
              <a:rPr lang="en-US" dirty="0"/>
              <a:t>Doctors, nurses, and care providers who need summarized health trends and early risk alerts to support better clinical decision-making</a:t>
            </a:r>
          </a:p>
          <a:p>
            <a:r>
              <a:rPr lang="en-US" dirty="0"/>
              <a:t>.</a:t>
            </a:r>
          </a:p>
          <a:p>
            <a:r>
              <a:rPr lang="en-US" b="1" dirty="0"/>
              <a:t>Caregivers &amp; Family Members:</a:t>
            </a:r>
            <a:br>
              <a:rPr lang="en-US" dirty="0"/>
            </a:br>
            <a:r>
              <a:rPr lang="en-US" dirty="0"/>
              <a:t>Family members responsible for patient care who benefit from alerts and health status awareness.</a:t>
            </a:r>
          </a:p>
          <a:p>
            <a:endParaRPr lang="en-US" dirty="0"/>
          </a:p>
          <a:p>
            <a:r>
              <a:rPr lang="en-US" b="1" dirty="0"/>
              <a:t>Healthcare Organizations:</a:t>
            </a:r>
            <a:br>
              <a:rPr lang="en-US" dirty="0"/>
            </a:br>
            <a:r>
              <a:rPr lang="en-US" dirty="0"/>
              <a:t>Hospitals and clinics seeking scalable, intelligent solutions to improve chronic disease management and reduce care burden.</a:t>
            </a:r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87C414-2D49-9E5D-A5D6-CF94524B9BE5}"/>
              </a:ext>
            </a:extLst>
          </p:cNvPr>
          <p:cNvSpPr txBox="1"/>
          <p:nvPr/>
        </p:nvSpPr>
        <p:spPr>
          <a:xfrm>
            <a:off x="1016000" y="888770"/>
            <a:ext cx="5496434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 user of project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99F497-8CBE-8DC8-B6F2-DCAEF5D366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11765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7C2A09DE-0AE2-AA94-B2C1-84FDBDB9D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1FBD4A-3273-E454-091D-D5B0678FC299}"/>
              </a:ext>
            </a:extLst>
          </p:cNvPr>
          <p:cNvSpPr txBox="1"/>
          <p:nvPr/>
        </p:nvSpPr>
        <p:spPr>
          <a:xfrm>
            <a:off x="777240" y="608537"/>
            <a:ext cx="7123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Used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7608B5-9906-EFCF-959A-E89FC2E3EE19}"/>
              </a:ext>
            </a:extLst>
          </p:cNvPr>
          <p:cNvSpPr txBox="1"/>
          <p:nvPr/>
        </p:nvSpPr>
        <p:spPr>
          <a:xfrm>
            <a:off x="777240" y="1207008"/>
            <a:ext cx="10515600" cy="57861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Data </a:t>
            </a:r>
            <a:r>
              <a:rPr lang="en-US" sz="1800" dirty="0" err="1"/>
              <a:t>Langflow</a:t>
            </a:r>
            <a:r>
              <a:rPr lang="en-US" sz="1800" dirty="0"/>
              <a:t> platform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 err="1"/>
              <a:t>Langflow</a:t>
            </a:r>
            <a:r>
              <a:rPr lang="en-US" sz="1800" dirty="0"/>
              <a:t> component name –  Agent  , Chat input , Chat output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IBM Granite model -  for </a:t>
            </a:r>
            <a:r>
              <a:rPr lang="en-US" sz="1800" dirty="0" err="1"/>
              <a:t>eg</a:t>
            </a:r>
            <a:r>
              <a:rPr lang="en-US" sz="1800" dirty="0"/>
              <a:t> – ibm-granite-3-2-8b 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IBM Cloud</a:t>
            </a:r>
          </a:p>
          <a:p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Astra DB</a:t>
            </a:r>
          </a:p>
          <a:p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Prompt Template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RAG if used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IBM Watsonx.ai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 err="1"/>
              <a:t>Watsonx</a:t>
            </a: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endParaRPr lang="en-US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D72C005-E1BD-D1EA-4A68-50937DBCE5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44058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/>
          <p:cNvSpPr/>
          <p:nvPr/>
        </p:nvSpPr>
        <p:spPr>
          <a:xfrm>
            <a:off x="740229" y="43954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800" b="1" i="0" u="none" strike="noStrike" cap="none" dirty="0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Novelty and Uniqueness</a:t>
            </a:r>
            <a:endParaRPr sz="28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9" name="Google Shape;279;p18"/>
          <p:cNvSpPr/>
          <p:nvPr/>
        </p:nvSpPr>
        <p:spPr>
          <a:xfrm>
            <a:off x="1064264" y="1583561"/>
            <a:ext cx="7468553" cy="40116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lang="en-US"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8"/>
          <p:cNvSpPr/>
          <p:nvPr/>
        </p:nvSpPr>
        <p:spPr>
          <a:xfrm>
            <a:off x="1218724" y="2660000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lang="en-US"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/>
          <p:cNvSpPr/>
          <p:nvPr/>
        </p:nvSpPr>
        <p:spPr>
          <a:xfrm>
            <a:off x="1218724" y="3829113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lang="en-US"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76BD740-4294-408A-9014-7C75E9F509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  <p:sp>
        <p:nvSpPr>
          <p:cNvPr id="6" name="Google Shape;279;p18">
            <a:extLst>
              <a:ext uri="{FF2B5EF4-FFF2-40B4-BE49-F238E27FC236}">
                <a16:creationId xmlns:a16="http://schemas.microsoft.com/office/drawing/2014/main" id="{2CE0D03F-FD12-90D5-76B4-2738469D641C}"/>
              </a:ext>
            </a:extLst>
          </p:cNvPr>
          <p:cNvSpPr/>
          <p:nvPr/>
        </p:nvSpPr>
        <p:spPr>
          <a:xfrm>
            <a:off x="1064264" y="1583561"/>
            <a:ext cx="7468553" cy="44035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" name="Google Shape;279;p18">
            <a:extLst>
              <a:ext uri="{FF2B5EF4-FFF2-40B4-BE49-F238E27FC236}">
                <a16:creationId xmlns:a16="http://schemas.microsoft.com/office/drawing/2014/main" id="{2D4660FF-C692-724B-060D-755CF987E710}"/>
              </a:ext>
            </a:extLst>
          </p:cNvPr>
          <p:cNvSpPr/>
          <p:nvPr/>
        </p:nvSpPr>
        <p:spPr>
          <a:xfrm>
            <a:off x="740229" y="1382487"/>
            <a:ext cx="10548257" cy="4757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First </a:t>
            </a:r>
            <a:r>
              <a:rPr lang="en-IN" sz="2000" b="1" dirty="0"/>
              <a:t>agent-based chronic disease monitoring platform</a:t>
            </a:r>
            <a:r>
              <a:rPr lang="en-IN" sz="2000" dirty="0"/>
              <a:t> combining continuous health data analysis, </a:t>
            </a:r>
            <a:r>
              <a:rPr lang="en-IN" sz="2000" b="1" dirty="0"/>
              <a:t>GenAI</a:t>
            </a:r>
            <a:r>
              <a:rPr lang="en-IN" sz="2000" dirty="0"/>
              <a:t>, and clinical guideline retrieval for proactive care.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Uses </a:t>
            </a:r>
            <a:r>
              <a:rPr lang="en-IN" sz="2000" b="1" dirty="0"/>
              <a:t>multi-agent orchestration via </a:t>
            </a:r>
            <a:r>
              <a:rPr lang="en-IN" sz="2000" b="1" dirty="0" err="1"/>
              <a:t>LangFlow</a:t>
            </a:r>
            <a:r>
              <a:rPr lang="en-IN" sz="2000" dirty="0"/>
              <a:t>, enabling modular, scalable, and explainable health trend analysis rather than a single monolithic model.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Integrates </a:t>
            </a:r>
            <a:r>
              <a:rPr lang="en-IN" sz="2000" b="1" dirty="0"/>
              <a:t>IBM Granite Model with RAG</a:t>
            </a:r>
            <a:r>
              <a:rPr lang="en-IN" sz="2000" dirty="0"/>
              <a:t> to deliver clinically aligned, trustworthy, and non-diagnostic recommendations from verified healthcare sources.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Focuses on </a:t>
            </a:r>
            <a:r>
              <a:rPr lang="en-US" sz="2000" b="1" dirty="0"/>
              <a:t>trend-based risk detection</a:t>
            </a:r>
            <a:r>
              <a:rPr lang="en-US" sz="2000" dirty="0"/>
              <a:t> instead of isolated readings, enabling early warning of chronic condition deterioration.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Granite-guarded outputs</a:t>
            </a:r>
            <a:r>
              <a:rPr lang="en-US" sz="2000" dirty="0"/>
              <a:t> ensure responsible, bias-aware, and assistive healthcare guidance compliant with best-practice standards.</a:t>
            </a:r>
          </a:p>
          <a:p>
            <a:endParaRPr lang="en-IN" sz="2000" dirty="0"/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7"/>
          <p:cNvSpPr txBox="1"/>
          <p:nvPr/>
        </p:nvSpPr>
        <p:spPr>
          <a:xfrm>
            <a:off x="1003545" y="364352"/>
            <a:ext cx="8207828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US" sz="24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Technical flow diagram - Architecture</a:t>
            </a:r>
            <a:r>
              <a:rPr lang="en-US" sz="2400" b="1" i="0" u="none" strike="noStrike" cap="none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 blueprint</a:t>
            </a:r>
            <a:endParaRPr lang="en-US" sz="2400" b="1">
              <a:solidFill>
                <a:schemeClr val="dk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3F004CF-732B-B365-E320-17AD7B82A8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79D5A1F-79AE-323F-33A4-E25208F727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6851" y="1284746"/>
            <a:ext cx="856021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>
          <a:extLst>
            <a:ext uri="{FF2B5EF4-FFF2-40B4-BE49-F238E27FC236}">
              <a16:creationId xmlns:a16="http://schemas.microsoft.com/office/drawing/2014/main" id="{CDF2A78E-5A0E-6814-8AF4-0AE54B036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>
            <a:extLst>
              <a:ext uri="{FF2B5EF4-FFF2-40B4-BE49-F238E27FC236}">
                <a16:creationId xmlns:a16="http://schemas.microsoft.com/office/drawing/2014/main" id="{2A145802-2DD3-EEBA-7D44-210C05B98C91}"/>
              </a:ext>
            </a:extLst>
          </p:cNvPr>
          <p:cNvSpPr/>
          <p:nvPr/>
        </p:nvSpPr>
        <p:spPr>
          <a:xfrm>
            <a:off x="621792" y="690990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i="0" u="none" strike="noStrike" cap="none" dirty="0" err="1">
                <a:solidFill>
                  <a:srgbClr val="051D3A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Langflow</a:t>
            </a:r>
            <a:r>
              <a:rPr lang="en-US" sz="2400" b="1" i="0" u="none" strike="noStrike" cap="none" dirty="0">
                <a:solidFill>
                  <a:srgbClr val="051D3A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component Used </a:t>
            </a:r>
            <a:endParaRPr lang="en-US" sz="2400" b="1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</a:endParaRPr>
          </a:p>
        </p:txBody>
      </p:sp>
      <p:sp>
        <p:nvSpPr>
          <p:cNvPr id="148" name="Google Shape;148;p5">
            <a:extLst>
              <a:ext uri="{FF2B5EF4-FFF2-40B4-BE49-F238E27FC236}">
                <a16:creationId xmlns:a16="http://schemas.microsoft.com/office/drawing/2014/main" id="{69E3EADC-1EAD-7419-145C-20998925206E}"/>
              </a:ext>
            </a:extLst>
          </p:cNvPr>
          <p:cNvSpPr/>
          <p:nvPr/>
        </p:nvSpPr>
        <p:spPr>
          <a:xfrm>
            <a:off x="2264331" y="6784578"/>
            <a:ext cx="2140744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5">
            <a:extLst>
              <a:ext uri="{FF2B5EF4-FFF2-40B4-BE49-F238E27FC236}">
                <a16:creationId xmlns:a16="http://schemas.microsoft.com/office/drawing/2014/main" id="{04E5872A-C331-C8F3-5D71-8E953BAAFE03}"/>
              </a:ext>
            </a:extLst>
          </p:cNvPr>
          <p:cNvSpPr/>
          <p:nvPr/>
        </p:nvSpPr>
        <p:spPr>
          <a:xfrm>
            <a:off x="1782604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5">
            <a:extLst>
              <a:ext uri="{FF2B5EF4-FFF2-40B4-BE49-F238E27FC236}">
                <a16:creationId xmlns:a16="http://schemas.microsoft.com/office/drawing/2014/main" id="{76EF3801-5D99-5EFA-9AA2-AD265775E354}"/>
              </a:ext>
            </a:extLst>
          </p:cNvPr>
          <p:cNvSpPr/>
          <p:nvPr/>
        </p:nvSpPr>
        <p:spPr>
          <a:xfrm>
            <a:off x="5732383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5">
            <a:extLst>
              <a:ext uri="{FF2B5EF4-FFF2-40B4-BE49-F238E27FC236}">
                <a16:creationId xmlns:a16="http://schemas.microsoft.com/office/drawing/2014/main" id="{DAD76A8A-9F2C-9EA9-25E9-40CD0FFAA869}"/>
              </a:ext>
            </a:extLst>
          </p:cNvPr>
          <p:cNvSpPr/>
          <p:nvPr/>
        </p:nvSpPr>
        <p:spPr>
          <a:xfrm>
            <a:off x="5077301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5">
            <a:extLst>
              <a:ext uri="{FF2B5EF4-FFF2-40B4-BE49-F238E27FC236}">
                <a16:creationId xmlns:a16="http://schemas.microsoft.com/office/drawing/2014/main" id="{8D9C4260-2673-337C-C898-4C22E0F8FD65}"/>
              </a:ext>
            </a:extLst>
          </p:cNvPr>
          <p:cNvSpPr/>
          <p:nvPr/>
        </p:nvSpPr>
        <p:spPr>
          <a:xfrm>
            <a:off x="9027081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5">
            <a:extLst>
              <a:ext uri="{FF2B5EF4-FFF2-40B4-BE49-F238E27FC236}">
                <a16:creationId xmlns:a16="http://schemas.microsoft.com/office/drawing/2014/main" id="{6167C3C6-3747-E373-84C3-3927C443B067}"/>
              </a:ext>
            </a:extLst>
          </p:cNvPr>
          <p:cNvSpPr/>
          <p:nvPr/>
        </p:nvSpPr>
        <p:spPr>
          <a:xfrm>
            <a:off x="8371999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B86949-7ED1-C43B-B1E3-5122BB67A596}"/>
              </a:ext>
            </a:extLst>
          </p:cNvPr>
          <p:cNvSpPr txBox="1"/>
          <p:nvPr/>
        </p:nvSpPr>
        <p:spPr>
          <a:xfrm>
            <a:off x="621792" y="1389888"/>
            <a:ext cx="8823960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Explain the use of each </a:t>
            </a:r>
            <a:r>
              <a:rPr lang="en-US" dirty="0" err="1"/>
              <a:t>langflow</a:t>
            </a:r>
            <a:r>
              <a:rPr lang="en-US" dirty="0"/>
              <a:t> component  used into you project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Chat Input – 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 IBM </a:t>
            </a:r>
            <a:r>
              <a:rPr lang="en-US" dirty="0" err="1"/>
              <a:t>watsonx</a:t>
            </a:r>
            <a:r>
              <a:rPr lang="en-US" dirty="0"/>
              <a:t> AI Agent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File component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Chat output 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Prompt Template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 Astra DB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 Split Template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Test Input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55A7959-9FC6-1DAE-7A47-36165450EF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5263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CA6090C0-0478-84F9-6D20-717B6FEB7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8079FEC-4447-C4FA-64A4-CB532564DAF6}"/>
              </a:ext>
            </a:extLst>
          </p:cNvPr>
          <p:cNvSpPr txBox="1"/>
          <p:nvPr/>
        </p:nvSpPr>
        <p:spPr>
          <a:xfrm>
            <a:off x="838779" y="200739"/>
            <a:ext cx="468406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/>
              <a:t>Input Screenshot 1 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73ADE60-811A-97E9-24FE-F2F7F61FA4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325AE1F-7BC4-9B8C-32E3-B5836F452F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2890" y="888447"/>
            <a:ext cx="9871588" cy="5119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5019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9E2832E4-AC39-7A49-D4B6-C1A4B148EC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D23FCBA-FC00-378F-C117-12DC1F4FD6E0}"/>
              </a:ext>
            </a:extLst>
          </p:cNvPr>
          <p:cNvSpPr txBox="1"/>
          <p:nvPr/>
        </p:nvSpPr>
        <p:spPr>
          <a:xfrm>
            <a:off x="1065320" y="138955"/>
            <a:ext cx="5466663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/>
              <a:t>Input Screenshot 2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B59E40-7B3E-CFB4-3FD9-6C10E068F0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2043B35-F253-9D81-2C56-7B049EE1B1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152" y="833284"/>
            <a:ext cx="10412361" cy="5191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50437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41ACF88B-2F75-CE59-3114-C1537EDD65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FE5FD7-2292-570F-1397-1E9287F8CB9D}"/>
              </a:ext>
            </a:extLst>
          </p:cNvPr>
          <p:cNvSpPr txBox="1"/>
          <p:nvPr/>
        </p:nvSpPr>
        <p:spPr>
          <a:xfrm>
            <a:off x="1065320" y="138955"/>
            <a:ext cx="5260717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/>
              <a:t>Output Screenshot 1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872FD1-7A0B-E5B9-638C-B95C4CCFE9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60BC2E6-B7B7-3846-188A-7822A3BD00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3226" y="865239"/>
            <a:ext cx="9871587" cy="5294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56843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5838F091-0014-6AB2-D2EE-81C735D1BE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F9D04B6-7646-B3BF-9A84-684A467FADAB}"/>
              </a:ext>
            </a:extLst>
          </p:cNvPr>
          <p:cNvSpPr txBox="1"/>
          <p:nvPr/>
        </p:nvSpPr>
        <p:spPr>
          <a:xfrm>
            <a:off x="1219779" y="200739"/>
            <a:ext cx="4622285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/>
              <a:t>Input Screenshot 2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314CEB-36A0-2FF5-7F53-C10C910CAB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F7E3CE4-38E2-77C9-D2D5-E718A256C6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6579" y="953729"/>
            <a:ext cx="9410970" cy="4925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88411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6FA0F82B-7EE5-EAB0-F470-130BDAC82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0668C6FD-577A-7288-5642-1AFC22BD04F2}"/>
              </a:ext>
            </a:extLst>
          </p:cNvPr>
          <p:cNvSpPr/>
          <p:nvPr/>
        </p:nvSpPr>
        <p:spPr>
          <a:xfrm>
            <a:off x="609600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3200" b="1" i="0" u="none" strike="noStrike" cap="none" dirty="0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Future Scope </a:t>
            </a:r>
            <a:endParaRPr sz="32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EAFA16CB-0A72-5AC5-69A0-ABF4A752B43F}"/>
              </a:ext>
            </a:extLst>
          </p:cNvPr>
          <p:cNvSpPr/>
          <p:nvPr/>
        </p:nvSpPr>
        <p:spPr>
          <a:xfrm>
            <a:off x="609600" y="1393947"/>
            <a:ext cx="10961914" cy="46149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sz="2000" dirty="0"/>
              <a:t>• Integration with </a:t>
            </a:r>
            <a:r>
              <a:rPr lang="en-US" sz="2000" b="1" dirty="0"/>
              <a:t>wearable and IoT health devices</a:t>
            </a:r>
            <a:r>
              <a:rPr lang="en-US" sz="2000" dirty="0"/>
              <a:t> for real-time and automated data collection.</a:t>
            </a:r>
          </a:p>
          <a:p>
            <a:endParaRPr lang="en-US" sz="2000" dirty="0"/>
          </a:p>
          <a:p>
            <a:r>
              <a:rPr lang="en-US" sz="2000" dirty="0"/>
              <a:t>• Expansion to support </a:t>
            </a:r>
            <a:r>
              <a:rPr lang="en-US" sz="2000" b="1" dirty="0"/>
              <a:t>additional chronic conditions</a:t>
            </a:r>
            <a:r>
              <a:rPr lang="en-US" sz="2000" dirty="0"/>
              <a:t> such as cardiovascular diseases, COPD, and arthritis.</a:t>
            </a:r>
          </a:p>
          <a:p>
            <a:endParaRPr lang="en-US" sz="2000" dirty="0"/>
          </a:p>
          <a:p>
            <a:r>
              <a:rPr lang="en-US" sz="2000" dirty="0"/>
              <a:t>• Development of </a:t>
            </a:r>
            <a:r>
              <a:rPr lang="en-US" sz="2000" b="1" dirty="0"/>
              <a:t>doctor and caregiver dashboards</a:t>
            </a:r>
            <a:r>
              <a:rPr lang="en-US" sz="2000" dirty="0"/>
              <a:t> for advanced monitoring, analytics, and intervention planning.</a:t>
            </a:r>
          </a:p>
          <a:p>
            <a:endParaRPr lang="en-US" sz="2000" dirty="0"/>
          </a:p>
          <a:p>
            <a:r>
              <a:rPr lang="en-US" sz="2000" dirty="0"/>
              <a:t>• Enhanced </a:t>
            </a:r>
            <a:r>
              <a:rPr lang="en-US" sz="2000" b="1" dirty="0"/>
              <a:t>predictive risk modeling</a:t>
            </a:r>
            <a:r>
              <a:rPr lang="en-US" sz="2000" dirty="0"/>
              <a:t> using long-term historical data and advanced AI techniques.</a:t>
            </a:r>
          </a:p>
          <a:p>
            <a:endParaRPr lang="en-US" sz="2000" dirty="0"/>
          </a:p>
          <a:p>
            <a:r>
              <a:rPr lang="en-US" sz="2000" dirty="0"/>
              <a:t>• Multi-language and voice-based support to improve </a:t>
            </a:r>
            <a:r>
              <a:rPr lang="en-US" sz="2000" b="1" dirty="0"/>
              <a:t>accessibility and inclusivity</a:t>
            </a:r>
            <a:r>
              <a:rPr lang="en-US" sz="2000" dirty="0"/>
              <a:t>.</a:t>
            </a:r>
          </a:p>
          <a:p>
            <a:endParaRPr lang="en-US" sz="2000" dirty="0"/>
          </a:p>
          <a:p>
            <a:r>
              <a:rPr lang="en-US" sz="2000" dirty="0"/>
              <a:t>• Integration with </a:t>
            </a:r>
            <a:r>
              <a:rPr lang="en-US" sz="2000" b="1" dirty="0"/>
              <a:t>Electronic Health Record (EHR) systems</a:t>
            </a:r>
            <a:r>
              <a:rPr lang="en-US" sz="2000" dirty="0"/>
              <a:t> for seamless clinical workflows.</a:t>
            </a: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lang="en-US" sz="1850" dirty="0">
              <a:solidFill>
                <a:srgbClr val="2B354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lang="en-US" sz="1850" dirty="0">
              <a:solidFill>
                <a:srgbClr val="2B354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B888011B-E4AC-77DB-4A60-BE2C891C49F5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91F05971-9256-10B5-6575-4E7C679C6DAA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F1C3EBC2-438F-C150-9ABF-F14321C2CC5C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96DCFED-2C83-7A17-CDB2-A4F4D4BBD1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67067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55016524-E738-3D8C-3BB2-B0BE7C665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D62F03A8-A8A8-CB93-006E-7173DC866F6F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3500" b="1" i="0" u="none" strike="noStrike" cap="none" dirty="0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 Hub Link</a:t>
            </a:r>
            <a:endParaRPr sz="35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15507A2F-9304-7475-5C74-2BAA93879CFE}"/>
              </a:ext>
            </a:extLst>
          </p:cNvPr>
          <p:cNvSpPr/>
          <p:nvPr/>
        </p:nvSpPr>
        <p:spPr>
          <a:xfrm>
            <a:off x="1130710" y="1393947"/>
            <a:ext cx="9366602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 Hub repository link: git@github.com:vaidehi2965/-AI-Based-Chronic-Disease-Monitoring-</a:t>
            </a:r>
            <a:r>
              <a:rPr lang="en-US" sz="1850" dirty="0" err="1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Assistant.git</a:t>
            </a:r>
            <a:endParaRPr lang="en-US" sz="1850" dirty="0">
              <a:solidFill>
                <a:srgbClr val="2B354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lang="en-US" sz="1850" dirty="0">
              <a:solidFill>
                <a:srgbClr val="2B354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A4423EF4-BB52-2693-03DD-9F7D92D05218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FF042814-8077-DBD5-E8B6-E0D870CADB86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6A2761AF-8A54-98F2-52C2-794D9BA61C92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8925A06-F7F9-F25E-EBB3-1891B33446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54848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FECD098C-4ECF-993B-66E2-9989F83F62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7BDA5ADF-C9A0-CA5D-844A-6AC3872A0D8C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</a:pPr>
            <a:r>
              <a:rPr lang="en-US" sz="3500" b="1" dirty="0">
                <a:solidFill>
                  <a:srgbClr val="051D3A"/>
                </a:solidFill>
                <a:latin typeface="Times New Roman"/>
                <a:cs typeface="Times New Roman"/>
                <a:sym typeface="Times New Roman"/>
              </a:rPr>
              <a:t>References </a:t>
            </a:r>
            <a:endParaRPr lang="en-US" dirty="0"/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AF5AFD00-74FD-B439-5973-23933ABD88EC}"/>
              </a:ext>
            </a:extLst>
          </p:cNvPr>
          <p:cNvSpPr/>
          <p:nvPr/>
        </p:nvSpPr>
        <p:spPr>
          <a:xfrm>
            <a:off x="1218724" y="1536736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indent="-342900">
              <a:lnSpc>
                <a:spcPct val="162162"/>
              </a:lnSpc>
              <a:buClr>
                <a:srgbClr val="2B3541"/>
              </a:buClr>
              <a:buSzPts val="1850"/>
              <a:buAutoNum type="arabicPeriod"/>
            </a:pPr>
            <a:r>
              <a:rPr lang="en-IN" sz="1600" dirty="0"/>
              <a:t>    </a:t>
            </a:r>
            <a:r>
              <a:rPr lang="en-IN" sz="1600" dirty="0">
                <a:hlinkClick r:id="rId3"/>
              </a:rPr>
              <a:t>cloud.ibm.com/login</a:t>
            </a:r>
            <a:endParaRPr lang="en-IN" sz="1600" dirty="0"/>
          </a:p>
          <a:p>
            <a:pPr>
              <a:lnSpc>
                <a:spcPct val="162162"/>
              </a:lnSpc>
              <a:buClr>
                <a:srgbClr val="2B3541"/>
              </a:buClr>
              <a:buSzPts val="1850"/>
            </a:pPr>
            <a:endParaRPr lang="en-IN" dirty="0"/>
          </a:p>
          <a:p>
            <a:pPr marL="342900" indent="-342900">
              <a:lnSpc>
                <a:spcPct val="162162"/>
              </a:lnSpc>
              <a:buClr>
                <a:srgbClr val="2B3541"/>
              </a:buClr>
              <a:buSzPts val="1850"/>
              <a:buAutoNum type="arabicPeriod" startAt="2"/>
            </a:pPr>
            <a:r>
              <a:rPr lang="en-US" dirty="0"/>
              <a:t> </a:t>
            </a:r>
            <a:r>
              <a:rPr lang="en-US" i="1" dirty="0">
                <a:hlinkClick r:id="rId4"/>
              </a:rPr>
              <a:t>"Cloud Infrastructure Solutions"</a:t>
            </a:r>
            <a:r>
              <a:rPr lang="en-US" i="1" dirty="0"/>
              <a:t>. IBM.com. IBM. Retrieved 21 August 2025. The IBM Cloud approach to IaaS lets you scale… around the world in more than 60 data centers… 60 data centers across 19 countries.</a:t>
            </a:r>
          </a:p>
          <a:p>
            <a:pPr marL="342900" indent="-342900">
              <a:lnSpc>
                <a:spcPct val="162162"/>
              </a:lnSpc>
              <a:buClr>
                <a:srgbClr val="2B3541"/>
              </a:buClr>
              <a:buSzPts val="1850"/>
              <a:buAutoNum type="arabicPeriod" startAt="2"/>
            </a:pPr>
            <a:r>
              <a:rPr lang="en-US" i="1" dirty="0"/>
              <a:t> </a:t>
            </a:r>
            <a:r>
              <a:rPr lang="en-US" dirty="0"/>
              <a:t> </a:t>
            </a:r>
            <a:r>
              <a:rPr lang="en-US" i="1" dirty="0">
                <a:hlinkClick r:id="rId5"/>
              </a:rPr>
              <a:t>"Watson, A System Designed for Answers: The Future of Workload Optimized Systems Design"</a:t>
            </a:r>
            <a:r>
              <a:rPr lang="en-US" i="1" dirty="0"/>
              <a:t>. IBM Systems and Technology. February 2011. p. 3. </a:t>
            </a:r>
            <a:r>
              <a:rPr lang="en-US" i="1" dirty="0">
                <a:hlinkClick r:id="rId6"/>
              </a:rPr>
              <a:t>Archived</a:t>
            </a:r>
            <a:r>
              <a:rPr lang="en-US" i="1" dirty="0"/>
              <a:t> from the original on March 4, 2016. Retrieved September 9, 2015</a:t>
            </a: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 lang="en-US" sz="1850" dirty="0">
              <a:solidFill>
                <a:srgbClr val="2B3541"/>
              </a:solidFill>
              <a:latin typeface="Times New Roman"/>
              <a:ea typeface="Times New Roman"/>
              <a:cs typeface="Times New Roman"/>
            </a:endParaRPr>
          </a:p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endParaRPr lang="en-US" sz="1850" dirty="0">
              <a:solidFill>
                <a:srgbClr val="2B354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lang="en-US" sz="1850" dirty="0">
              <a:solidFill>
                <a:srgbClr val="2B354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D86E9480-AE0D-8F00-984F-1C0F8F53C1EC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48F2A10B-67AA-AAE6-232F-CFA602CB53A9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C95F8CEF-91B5-DD0D-C876-1BFF8ED80FBF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760EC5B-78FF-4D99-1A49-A2DD6DB4A36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1563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190302"/>
            <a:ext cx="12192000" cy="2477396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A9DDD0D-7A91-1E4E-00BA-F7FF05ABF7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1475</TotalTime>
  <Words>1021</Words>
  <Application>Microsoft Office PowerPoint</Application>
  <PresentationFormat>Widescreen</PresentationFormat>
  <Paragraphs>157</Paragraphs>
  <Slides>18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Times New Roman</vt:lpstr>
      <vt:lpstr>Office Theme</vt:lpstr>
      <vt:lpstr>Agentic AI Hackathon: Building Intelligent Agents with IBM Granite and LangFlow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Manda Anirudh</dc:creator>
  <cp:lastModifiedBy>Vaidehi .</cp:lastModifiedBy>
  <cp:revision>124</cp:revision>
  <dcterms:created xsi:type="dcterms:W3CDTF">2025-07-08T05:06:56Z</dcterms:created>
  <dcterms:modified xsi:type="dcterms:W3CDTF">2026-02-01T16:04:17Z</dcterms:modified>
</cp:coreProperties>
</file>